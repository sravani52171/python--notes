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7" r:id="rId11"/>
    <p:sldId id="278" r:id="rId12"/>
    <p:sldId id="271" r:id="rId13"/>
    <p:sldId id="272" r:id="rId14"/>
    <p:sldId id="273" r:id="rId15"/>
    <p:sldId id="274" r:id="rId16"/>
    <p:sldId id="279" r:id="rId17"/>
    <p:sldId id="275" r:id="rId18"/>
    <p:sldId id="276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65" r:id="rId28"/>
    <p:sldId id="266" r:id="rId29"/>
    <p:sldId id="268" r:id="rId30"/>
    <p:sldId id="269" r:id="rId31"/>
    <p:sldId id="270" r:id="rId32"/>
    <p:sldId id="288" r:id="rId33"/>
    <p:sldId id="289" r:id="rId34"/>
    <p:sldId id="290" r:id="rId35"/>
    <p:sldId id="291" r:id="rId36"/>
    <p:sldId id="292" r:id="rId37"/>
    <p:sldId id="26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DB9F782-175E-4378-8B3C-00FA83FBF22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806748B-C87E-4125-BB06-97B8234990D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863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F782-175E-4378-8B3C-00FA83FBF22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748B-C87E-4125-BB06-97B823499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871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F782-175E-4378-8B3C-00FA83FBF22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748B-C87E-4125-BB06-97B8234990D4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622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F782-175E-4378-8B3C-00FA83FBF22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748B-C87E-4125-BB06-97B823499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19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F782-175E-4378-8B3C-00FA83FBF22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748B-C87E-4125-BB06-97B8234990D4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576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F782-175E-4378-8B3C-00FA83FBF22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748B-C87E-4125-BB06-97B8234990D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61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F782-175E-4378-8B3C-00FA83FBF22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748B-C87E-4125-BB06-97B823499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36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F782-175E-4378-8B3C-00FA83FBF22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748B-C87E-4125-BB06-97B8234990D4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336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F782-175E-4378-8B3C-00FA83FBF22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748B-C87E-4125-BB06-97B823499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537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F782-175E-4378-8B3C-00FA83FBF22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748B-C87E-4125-BB06-97B823499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763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F782-175E-4378-8B3C-00FA83FBF22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748B-C87E-4125-BB06-97B8234990D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769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F782-175E-4378-8B3C-00FA83FBF22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748B-C87E-4125-BB06-97B8234990D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314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F782-175E-4378-8B3C-00FA83FBF22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748B-C87E-4125-BB06-97B823499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332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F782-175E-4378-8B3C-00FA83FBF22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748B-C87E-4125-BB06-97B8234990D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4934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F782-175E-4378-8B3C-00FA83FBF22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748B-C87E-4125-BB06-97B8234990D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217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F782-175E-4378-8B3C-00FA83FBF22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748B-C87E-4125-BB06-97B8234990D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511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F782-175E-4378-8B3C-00FA83FBF22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748B-C87E-4125-BB06-97B8234990D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85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DB9F782-175E-4378-8B3C-00FA83FBF22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806748B-C87E-4125-BB06-97B8234990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521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Control Statements in Python</a:t>
            </a:r>
          </a:p>
        </p:txBody>
      </p:sp>
    </p:spTree>
    <p:extLst>
      <p:ext uri="{BB962C8B-B14F-4D97-AF65-F5344CB8AC3E}">
        <p14:creationId xmlns:p14="http://schemas.microsoft.com/office/powerpoint/2010/main" val="3305695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Control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  <a:p>
            <a:r>
              <a:rPr lang="en-GB" sz="3200" dirty="0" smtClean="0">
                <a:solidFill>
                  <a:schemeClr val="tx1"/>
                </a:solidFill>
              </a:rPr>
              <a:t>Control </a:t>
            </a:r>
            <a:r>
              <a:rPr lang="en-GB" sz="3200" dirty="0">
                <a:solidFill>
                  <a:schemeClr val="tx1"/>
                </a:solidFill>
              </a:rPr>
              <a:t>statements determine the flow of execution of a program. They help us make decisions, repeat tasks, or change the normal sequence of execution.</a:t>
            </a:r>
            <a:endParaRPr lang="en-IN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676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Control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three main types:</a:t>
            </a:r>
          </a:p>
          <a:p>
            <a:r>
              <a:rPr lang="en-GB" b="1" dirty="0"/>
              <a:t>Selection (Decision-Making) Statements</a:t>
            </a:r>
            <a:r>
              <a:rPr lang="en-GB" dirty="0"/>
              <a:t> </a:t>
            </a:r>
          </a:p>
          <a:p>
            <a:r>
              <a:rPr lang="en-GB" b="1" dirty="0"/>
              <a:t>Iteration (Looping) Statements</a:t>
            </a:r>
            <a:r>
              <a:rPr lang="en-GB" dirty="0"/>
              <a:t> </a:t>
            </a:r>
          </a:p>
          <a:p>
            <a:r>
              <a:rPr lang="en-GB" b="1" dirty="0"/>
              <a:t>Jump (Transfer) Statements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8822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Selection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These statements execute different blocks of code based on a condition</a:t>
            </a:r>
            <a:r>
              <a:rPr lang="en-GB" dirty="0" smtClean="0"/>
              <a:t>.</a:t>
            </a:r>
          </a:p>
          <a:p>
            <a:r>
              <a:rPr lang="en-IN" dirty="0" smtClean="0"/>
              <a:t>Types</a:t>
            </a:r>
          </a:p>
          <a:p>
            <a:pPr lvl="1"/>
            <a:r>
              <a:rPr lang="en-IN" sz="2400" dirty="0" smtClean="0"/>
              <a:t>If</a:t>
            </a:r>
          </a:p>
          <a:p>
            <a:pPr lvl="1"/>
            <a:r>
              <a:rPr lang="en-IN" sz="2400" dirty="0"/>
              <a:t>if...</a:t>
            </a:r>
            <a:r>
              <a:rPr lang="en-IN" sz="2400" dirty="0" smtClean="0"/>
              <a:t>else</a:t>
            </a:r>
          </a:p>
          <a:p>
            <a:pPr lvl="1"/>
            <a:r>
              <a:rPr lang="en-IN" sz="2400" dirty="0"/>
              <a:t>if...</a:t>
            </a:r>
            <a:r>
              <a:rPr lang="en-IN" sz="2400" dirty="0" err="1"/>
              <a:t>elif</a:t>
            </a:r>
            <a:r>
              <a:rPr lang="en-IN" sz="2400" dirty="0"/>
              <a:t>...</a:t>
            </a:r>
            <a:r>
              <a:rPr lang="en-IN" sz="2400" dirty="0" smtClean="0"/>
              <a:t>else</a:t>
            </a:r>
          </a:p>
          <a:p>
            <a:pPr lvl="1"/>
            <a:r>
              <a:rPr lang="en-IN" sz="2400" dirty="0"/>
              <a:t>Nested </a:t>
            </a:r>
            <a:r>
              <a:rPr lang="en-IN" sz="2400" dirty="0" smtClean="0"/>
              <a:t> if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7936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Flow of a Selection Statement</a:t>
            </a:r>
            <a:endParaRPr lang="en-IN" dirty="0"/>
          </a:p>
        </p:txBody>
      </p:sp>
      <p:pic>
        <p:nvPicPr>
          <p:cNvPr id="2050" name="Picture 2" descr="Else statement in Python - Learn Java and Python for fre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510" y="2557463"/>
            <a:ext cx="9020710" cy="362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9724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Used when you want to execute code </a:t>
            </a:r>
            <a:r>
              <a:rPr lang="en-GB" b="1" dirty="0"/>
              <a:t>only if the condition is True</a:t>
            </a:r>
            <a:r>
              <a:rPr lang="en-GB" dirty="0" smtClean="0"/>
              <a:t>.</a:t>
            </a:r>
          </a:p>
          <a:p>
            <a:r>
              <a:rPr lang="en-GB" dirty="0" smtClean="0"/>
              <a:t>Syntax:</a:t>
            </a:r>
          </a:p>
          <a:p>
            <a:r>
              <a:rPr lang="en-GB" dirty="0"/>
              <a:t>if condition:</a:t>
            </a:r>
          </a:p>
          <a:p>
            <a:pPr marL="0" indent="0">
              <a:buNone/>
            </a:pPr>
            <a:r>
              <a:rPr lang="en-GB" dirty="0" smtClean="0"/>
              <a:t>	   </a:t>
            </a:r>
            <a:r>
              <a:rPr lang="en-GB" dirty="0"/>
              <a:t>statements</a:t>
            </a:r>
            <a:endParaRPr lang="en-GB" dirty="0" smtClean="0"/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7990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2. if...else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Used when there are </a:t>
            </a:r>
            <a:r>
              <a:rPr lang="en-GB" b="1" dirty="0"/>
              <a:t>two possible outcomes</a:t>
            </a:r>
            <a:r>
              <a:rPr lang="en-GB" dirty="0" smtClean="0"/>
              <a:t>.</a:t>
            </a:r>
          </a:p>
          <a:p>
            <a:r>
              <a:rPr lang="en-GB" dirty="0"/>
              <a:t>if condition:</a:t>
            </a:r>
          </a:p>
          <a:p>
            <a:pPr marL="0" indent="0">
              <a:buNone/>
            </a:pPr>
            <a:r>
              <a:rPr lang="en-GB" dirty="0" smtClean="0"/>
              <a:t>	    </a:t>
            </a:r>
            <a:r>
              <a:rPr lang="en-GB" dirty="0"/>
              <a:t>statements</a:t>
            </a:r>
          </a:p>
          <a:p>
            <a:pPr marL="0" indent="0">
              <a:buNone/>
            </a:pPr>
            <a:r>
              <a:rPr lang="en-GB" dirty="0" smtClean="0"/>
              <a:t>  else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dirty="0" smtClean="0"/>
              <a:t>	    </a:t>
            </a:r>
            <a:r>
              <a:rPr lang="en-GB" dirty="0"/>
              <a:t>statements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60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if...</a:t>
            </a:r>
            <a:r>
              <a:rPr lang="en-IN" dirty="0" err="1"/>
              <a:t>elif</a:t>
            </a:r>
            <a:r>
              <a:rPr lang="en-IN" dirty="0"/>
              <a:t>...else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dirty="0"/>
              <a:t>Used when there are </a:t>
            </a:r>
            <a:r>
              <a:rPr lang="en-GB" b="1" dirty="0"/>
              <a:t>multiple conditions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r>
              <a:rPr lang="en-GB" dirty="0"/>
              <a:t>if condition1</a:t>
            </a:r>
            <a:r>
              <a:rPr lang="en-GB" dirty="0" smtClean="0"/>
              <a:t>:</a:t>
            </a:r>
          </a:p>
          <a:p>
            <a:pPr marL="0" indent="0">
              <a:buNone/>
            </a:pPr>
            <a:r>
              <a:rPr lang="en-GB" dirty="0" smtClean="0"/>
              <a:t>    </a:t>
            </a:r>
            <a:r>
              <a:rPr lang="en-GB" dirty="0"/>
              <a:t>statements</a:t>
            </a:r>
          </a:p>
          <a:p>
            <a:pPr marL="0" indent="0">
              <a:buNone/>
            </a:pPr>
            <a:r>
              <a:rPr lang="en-GB" dirty="0" err="1"/>
              <a:t>elif</a:t>
            </a:r>
            <a:r>
              <a:rPr lang="en-GB" dirty="0"/>
              <a:t> condition2:</a:t>
            </a:r>
          </a:p>
          <a:p>
            <a:pPr marL="0" indent="0">
              <a:buNone/>
            </a:pPr>
            <a:r>
              <a:rPr lang="en-GB" dirty="0"/>
              <a:t>    statements</a:t>
            </a:r>
          </a:p>
          <a:p>
            <a:pPr marL="0" indent="0">
              <a:buNone/>
            </a:pPr>
            <a:r>
              <a:rPr lang="en-GB" dirty="0" err="1"/>
              <a:t>elif</a:t>
            </a:r>
            <a:r>
              <a:rPr lang="en-GB" dirty="0"/>
              <a:t> condition3:</a:t>
            </a:r>
          </a:p>
          <a:p>
            <a:pPr marL="0" indent="0">
              <a:buNone/>
            </a:pPr>
            <a:r>
              <a:rPr lang="en-GB" dirty="0"/>
              <a:t>    statements</a:t>
            </a:r>
          </a:p>
          <a:p>
            <a:pPr marL="0" indent="0">
              <a:buNone/>
            </a:pPr>
            <a:r>
              <a:rPr lang="en-GB" dirty="0"/>
              <a:t>else:</a:t>
            </a:r>
          </a:p>
          <a:p>
            <a:pPr marL="0" indent="0">
              <a:buNone/>
            </a:pPr>
            <a:r>
              <a:rPr lang="en-GB" dirty="0"/>
              <a:t>    statements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444379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Nested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An if statement inside another if statement</a:t>
            </a:r>
            <a:r>
              <a:rPr lang="en-GB" dirty="0" smtClean="0"/>
              <a:t>.</a:t>
            </a:r>
          </a:p>
          <a:p>
            <a:r>
              <a:rPr lang="en-IN" dirty="0" smtClean="0"/>
              <a:t>Syntax</a:t>
            </a:r>
          </a:p>
          <a:p>
            <a:pPr marL="0" indent="0">
              <a:buNone/>
            </a:pPr>
            <a:r>
              <a:rPr lang="en-GB" dirty="0"/>
              <a:t>if condition1:</a:t>
            </a:r>
          </a:p>
          <a:p>
            <a:pPr marL="0" indent="0">
              <a:buNone/>
            </a:pPr>
            <a:r>
              <a:rPr lang="en-GB" dirty="0"/>
              <a:t>    if condition2:</a:t>
            </a:r>
          </a:p>
          <a:p>
            <a:pPr marL="0" indent="0">
              <a:buNone/>
            </a:pPr>
            <a:r>
              <a:rPr lang="en-GB" dirty="0"/>
              <a:t>        statements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33325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Short-hand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Used when there is only one statement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r>
              <a:rPr lang="en-GB" dirty="0"/>
              <a:t>age = 20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if age &gt;= 18: print("Adult")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4621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6. Short-hand if...else (Ternary Operator)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Syntax:</a:t>
            </a:r>
          </a:p>
          <a:p>
            <a:pPr marL="0" indent="0">
              <a:buNone/>
            </a:pPr>
            <a:r>
              <a:rPr lang="en-GB" dirty="0" err="1"/>
              <a:t>value_if_true</a:t>
            </a:r>
            <a:r>
              <a:rPr lang="en-GB" dirty="0"/>
              <a:t> if condition else </a:t>
            </a:r>
            <a:r>
              <a:rPr lang="en-GB" dirty="0" err="1" smtClean="0"/>
              <a:t>value_if_false</a:t>
            </a:r>
            <a:endParaRPr lang="en-IN" dirty="0"/>
          </a:p>
          <a:p>
            <a:pPr marL="0" indent="0">
              <a:buNone/>
            </a:pPr>
            <a:r>
              <a:rPr lang="en-GB" dirty="0" smtClean="0"/>
              <a:t>Example:</a:t>
            </a:r>
          </a:p>
          <a:p>
            <a:pPr marL="0" indent="0">
              <a:buNone/>
            </a:pPr>
            <a:r>
              <a:rPr lang="en-GB" dirty="0" err="1"/>
              <a:t>num</a:t>
            </a:r>
            <a:r>
              <a:rPr lang="en-GB" dirty="0"/>
              <a:t> = </a:t>
            </a:r>
            <a:r>
              <a:rPr lang="en-GB" dirty="0" err="1"/>
              <a:t>int</a:t>
            </a:r>
            <a:r>
              <a:rPr lang="en-GB" dirty="0"/>
              <a:t>(input("Enter a number: "))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print("Positive") if </a:t>
            </a:r>
            <a:r>
              <a:rPr lang="en-GB" dirty="0" err="1"/>
              <a:t>num</a:t>
            </a:r>
            <a:r>
              <a:rPr lang="en-GB" dirty="0"/>
              <a:t> &gt; 0 else print("Negative or Zero")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5561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loop statement is used to execute a block of code repeatedly without writing the same code multiple times</a:t>
            </a:r>
            <a:r>
              <a:rPr lang="en-GB" dirty="0" smtClean="0"/>
              <a:t>.</a:t>
            </a:r>
          </a:p>
          <a:p>
            <a:r>
              <a:rPr lang="en-GB" b="1" dirty="0"/>
              <a:t>Types of Loop Statements in Python</a:t>
            </a:r>
          </a:p>
          <a:p>
            <a:r>
              <a:rPr lang="en-GB" dirty="0"/>
              <a:t>Python provides two loop statements:</a:t>
            </a:r>
          </a:p>
          <a:p>
            <a:r>
              <a:rPr lang="en-GB" b="1" dirty="0"/>
              <a:t>for Loop</a:t>
            </a:r>
            <a:r>
              <a:rPr lang="en-GB" dirty="0"/>
              <a:t> </a:t>
            </a:r>
          </a:p>
          <a:p>
            <a:r>
              <a:rPr lang="en-GB" b="1" dirty="0"/>
              <a:t>while Loop</a:t>
            </a: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850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b="1" dirty="0"/>
              <a:t>for loop</a:t>
            </a:r>
            <a:r>
              <a:rPr lang="en-GB" dirty="0"/>
              <a:t> is used when the </a:t>
            </a:r>
            <a:r>
              <a:rPr lang="en-GB" b="1" dirty="0"/>
              <a:t>number of iterations is known in advance</a:t>
            </a:r>
            <a:r>
              <a:rPr lang="en-GB" dirty="0"/>
              <a:t>.</a:t>
            </a:r>
          </a:p>
          <a:p>
            <a:r>
              <a:rPr lang="en-GB" b="1" dirty="0" smtClean="0"/>
              <a:t>Syntax</a:t>
            </a:r>
          </a:p>
          <a:p>
            <a:pPr marL="0" indent="0">
              <a:buNone/>
            </a:pPr>
            <a:r>
              <a:rPr lang="en-GB" dirty="0"/>
              <a:t>for variable in sequence:</a:t>
            </a:r>
          </a:p>
          <a:p>
            <a:pPr marL="0" indent="0">
              <a:buNone/>
            </a:pPr>
            <a:r>
              <a:rPr lang="en-GB" dirty="0" smtClean="0"/>
              <a:t>	   </a:t>
            </a:r>
            <a:r>
              <a:rPr lang="en-GB" dirty="0"/>
              <a:t>statements</a:t>
            </a:r>
          </a:p>
        </p:txBody>
      </p:sp>
    </p:spTree>
    <p:extLst>
      <p:ext uri="{BB962C8B-B14F-4D97-AF65-F5344CB8AC3E}">
        <p14:creationId xmlns:p14="http://schemas.microsoft.com/office/powerpoint/2010/main" val="3051817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ow to Use For Loops in Python: Step by Step | Courser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045" y="1099335"/>
            <a:ext cx="10212512" cy="5095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470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while loop is used when the number of iterations is not known in advance. It continues executing as long as the condition is True</a:t>
            </a:r>
            <a:r>
              <a:rPr lang="en-GB" dirty="0" smtClean="0"/>
              <a:t>.</a:t>
            </a:r>
          </a:p>
          <a:p>
            <a:r>
              <a:rPr lang="en-GB" dirty="0" smtClean="0"/>
              <a:t>Syntax:</a:t>
            </a:r>
          </a:p>
          <a:p>
            <a:pPr marL="0" indent="0">
              <a:buNone/>
            </a:pPr>
            <a:r>
              <a:rPr lang="en-IN" dirty="0"/>
              <a:t>while condition:</a:t>
            </a:r>
          </a:p>
          <a:p>
            <a:pPr marL="0" indent="0">
              <a:buNone/>
            </a:pPr>
            <a:r>
              <a:rPr lang="en-IN" dirty="0" smtClean="0"/>
              <a:t>	    </a:t>
            </a:r>
            <a:r>
              <a:rPr lang="en-IN" dirty="0"/>
              <a:t>statements</a:t>
            </a:r>
          </a:p>
        </p:txBody>
      </p:sp>
    </p:spTree>
    <p:extLst>
      <p:ext uri="{BB962C8B-B14F-4D97-AF65-F5344CB8AC3E}">
        <p14:creationId xmlns:p14="http://schemas.microsoft.com/office/powerpoint/2010/main" val="13093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range()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range() function generates a sequence of numbers</a:t>
            </a:r>
            <a:r>
              <a:rPr lang="en-GB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 smtClean="0"/>
              <a:t>range(stop)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range(start, stop</a:t>
            </a:r>
            <a:r>
              <a:rPr lang="en-IN" dirty="0" smtClean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range(start, stop, step)</a:t>
            </a:r>
          </a:p>
        </p:txBody>
      </p:sp>
    </p:spTree>
    <p:extLst>
      <p:ext uri="{BB962C8B-B14F-4D97-AF65-F5344CB8AC3E}">
        <p14:creationId xmlns:p14="http://schemas.microsoft.com/office/powerpoint/2010/main" val="4091020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Difference Between for and while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156984"/>
              </p:ext>
            </p:extLst>
          </p:nvPr>
        </p:nvGraphicFramePr>
        <p:xfrm>
          <a:off x="1295400" y="2661005"/>
          <a:ext cx="9601200" cy="3339105"/>
        </p:xfrm>
        <a:graphic>
          <a:graphicData uri="http://schemas.openxmlformats.org/drawingml/2006/table">
            <a:tbl>
              <a:tblPr/>
              <a:tblGrid>
                <a:gridCol w="4800600"/>
                <a:gridCol w="4800600"/>
              </a:tblGrid>
              <a:tr h="667821">
                <a:tc>
                  <a:txBody>
                    <a:bodyPr/>
                    <a:lstStyle/>
                    <a:p>
                      <a:r>
                        <a:rPr lang="en-IN"/>
                        <a:t>for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while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7821">
                <a:tc>
                  <a:txBody>
                    <a:bodyPr/>
                    <a:lstStyle/>
                    <a:p>
                      <a:r>
                        <a:rPr lang="en-GB"/>
                        <a:t>Used when the number of iterations is known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Used when the number of iterations is unknown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7821">
                <a:tc>
                  <a:txBody>
                    <a:bodyPr/>
                    <a:lstStyle/>
                    <a:p>
                      <a:r>
                        <a:rPr lang="en-IN"/>
                        <a:t>Iterates over a sequence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Executes while a condition is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7821">
                <a:tc>
                  <a:txBody>
                    <a:bodyPr/>
                    <a:lstStyle/>
                    <a:p>
                      <a:r>
                        <a:rPr lang="en-IN"/>
                        <a:t>Easier for fixed repetitions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Better for condition-based repetition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7821">
                <a:tc>
                  <a:txBody>
                    <a:bodyPr/>
                    <a:lstStyle/>
                    <a:p>
                      <a:r>
                        <a:rPr lang="en-IN"/>
                        <a:t>Example: Print 1–10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Example: Login until correct 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971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Nested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A </a:t>
            </a:r>
            <a:r>
              <a:rPr lang="en-GB" dirty="0"/>
              <a:t>loop inside another loop is called a </a:t>
            </a:r>
            <a:r>
              <a:rPr lang="en-GB" b="1" dirty="0"/>
              <a:t>nested loop</a:t>
            </a:r>
            <a:r>
              <a:rPr lang="en-GB" dirty="0" smtClean="0"/>
              <a:t>.</a:t>
            </a:r>
          </a:p>
          <a:p>
            <a:r>
              <a:rPr lang="en-GB" dirty="0"/>
              <a:t>The outer loop controls how many times the inner loop executes</a:t>
            </a:r>
            <a:r>
              <a:rPr lang="en-GB" dirty="0" smtClean="0"/>
              <a:t>.</a:t>
            </a:r>
          </a:p>
          <a:p>
            <a:r>
              <a:rPr lang="en-GB" dirty="0"/>
              <a:t>For </a:t>
            </a:r>
            <a:r>
              <a:rPr lang="en-GB" b="1" dirty="0"/>
              <a:t>each iteration</a:t>
            </a:r>
            <a:r>
              <a:rPr lang="en-GB" dirty="0"/>
              <a:t> of the outer loop, the </a:t>
            </a:r>
            <a:r>
              <a:rPr lang="en-GB" b="1" dirty="0"/>
              <a:t>inner loop runs completely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2502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Nested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Nested for </a:t>
            </a:r>
            <a:r>
              <a:rPr lang="en-GB" dirty="0" smtClean="0"/>
              <a:t>loop</a:t>
            </a:r>
          </a:p>
          <a:p>
            <a:r>
              <a:rPr lang="en-GB" dirty="0" smtClean="0"/>
              <a:t>Nested </a:t>
            </a:r>
            <a:r>
              <a:rPr lang="en-GB" dirty="0"/>
              <a:t>while </a:t>
            </a:r>
            <a:r>
              <a:rPr lang="en-GB" dirty="0" smtClean="0"/>
              <a:t>loop</a:t>
            </a:r>
          </a:p>
          <a:p>
            <a:r>
              <a:rPr lang="en-GB" dirty="0" smtClean="0"/>
              <a:t>for </a:t>
            </a:r>
            <a:r>
              <a:rPr lang="en-GB" dirty="0"/>
              <a:t>inside </a:t>
            </a:r>
            <a:r>
              <a:rPr lang="en-GB" dirty="0" smtClean="0"/>
              <a:t>while</a:t>
            </a:r>
          </a:p>
          <a:p>
            <a:r>
              <a:rPr lang="en-GB" dirty="0" smtClean="0"/>
              <a:t>while </a:t>
            </a:r>
            <a:r>
              <a:rPr lang="en-GB" dirty="0"/>
              <a:t>inside for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5418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Nested 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Syntax:</a:t>
            </a:r>
          </a:p>
          <a:p>
            <a:pPr marL="0" indent="0">
              <a:buNone/>
            </a:pPr>
            <a:r>
              <a:rPr lang="en-GB" dirty="0"/>
              <a:t>for outer in sequence:</a:t>
            </a:r>
          </a:p>
          <a:p>
            <a:pPr marL="0" indent="0">
              <a:buNone/>
            </a:pPr>
            <a:r>
              <a:rPr lang="en-GB" dirty="0"/>
              <a:t>    for inner in sequence:</a:t>
            </a:r>
          </a:p>
          <a:p>
            <a:pPr marL="0" indent="0">
              <a:buNone/>
            </a:pPr>
            <a:r>
              <a:rPr lang="en-GB" dirty="0"/>
              <a:t>        statements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677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Nested 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while condition1: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while condition2:</a:t>
            </a:r>
          </a:p>
          <a:p>
            <a:pPr marL="0" indent="0">
              <a:buNone/>
            </a:pPr>
            <a:r>
              <a:rPr lang="en-GB" dirty="0"/>
              <a:t>        statements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1379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Jump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jump </a:t>
            </a:r>
            <a:r>
              <a:rPr lang="en-GB" dirty="0"/>
              <a:t>statements are used to change the normal flow of execution in a program</a:t>
            </a:r>
            <a:r>
              <a:rPr lang="en-GB" dirty="0" smtClean="0"/>
              <a:t>.</a:t>
            </a:r>
          </a:p>
          <a:p>
            <a:r>
              <a:rPr lang="en-GB" dirty="0" smtClean="0"/>
              <a:t>They </a:t>
            </a:r>
            <a:r>
              <a:rPr lang="en-GB" dirty="0"/>
              <a:t>are mainly used inside loops (for, while) </a:t>
            </a:r>
            <a:r>
              <a:rPr lang="en-GB" dirty="0" err="1"/>
              <a:t>to:Exit</a:t>
            </a:r>
            <a:r>
              <a:rPr lang="en-GB" dirty="0"/>
              <a:t> a loop</a:t>
            </a:r>
            <a:r>
              <a:rPr lang="en-GB" dirty="0" smtClean="0"/>
              <a:t>.</a:t>
            </a:r>
          </a:p>
          <a:p>
            <a:r>
              <a:rPr lang="en-GB" dirty="0" smtClean="0"/>
              <a:t>Skip </a:t>
            </a:r>
            <a:r>
              <a:rPr lang="en-GB" dirty="0"/>
              <a:t>an iteration</a:t>
            </a:r>
            <a:r>
              <a:rPr lang="en-GB" dirty="0" smtClean="0"/>
              <a:t>.</a:t>
            </a:r>
          </a:p>
          <a:p>
            <a:r>
              <a:rPr lang="en-GB" dirty="0" smtClean="0"/>
              <a:t>Leave </a:t>
            </a:r>
            <a:r>
              <a:rPr lang="en-GB" dirty="0"/>
              <a:t>a block empty for future implementation.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560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Jump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Break</a:t>
            </a:r>
          </a:p>
          <a:p>
            <a:r>
              <a:rPr lang="en-IN" dirty="0" smtClean="0"/>
              <a:t>Continue</a:t>
            </a:r>
          </a:p>
          <a:p>
            <a:r>
              <a:rPr lang="en-IN" dirty="0" smtClean="0"/>
              <a:t>pass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8297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break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 break statement immediately terminates the loop and transfers control to the statement after the loop</a:t>
            </a:r>
            <a:r>
              <a:rPr lang="en-GB" dirty="0" smtClean="0"/>
              <a:t>.</a:t>
            </a:r>
          </a:p>
          <a:p>
            <a:r>
              <a:rPr lang="en-GB" dirty="0" smtClean="0"/>
              <a:t>Syntax:</a:t>
            </a:r>
          </a:p>
          <a:p>
            <a:pPr marL="0" indent="0">
              <a:buNone/>
            </a:pPr>
            <a:r>
              <a:rPr lang="en-GB" dirty="0"/>
              <a:t>for variable in sequence:</a:t>
            </a:r>
          </a:p>
          <a:p>
            <a:pPr marL="0" indent="0">
              <a:buNone/>
            </a:pPr>
            <a:r>
              <a:rPr lang="en-GB" dirty="0"/>
              <a:t>    if condition:</a:t>
            </a:r>
          </a:p>
          <a:p>
            <a:pPr marL="0" indent="0">
              <a:buNone/>
            </a:pPr>
            <a:r>
              <a:rPr lang="en-GB" dirty="0"/>
              <a:t>        break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9903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 continue statement skips the current iteration and continues with the next iteration of the loop</a:t>
            </a:r>
            <a:r>
              <a:rPr lang="en-GB" dirty="0" smtClean="0"/>
              <a:t>.</a:t>
            </a:r>
          </a:p>
          <a:p>
            <a:r>
              <a:rPr lang="en-GB" dirty="0" smtClean="0"/>
              <a:t>Syntax:</a:t>
            </a:r>
          </a:p>
          <a:p>
            <a:pPr marL="0" indent="0">
              <a:buNone/>
            </a:pPr>
            <a:r>
              <a:rPr lang="en-GB" dirty="0"/>
              <a:t>for variable in sequence</a:t>
            </a:r>
            <a:r>
              <a:rPr lang="en-GB" dirty="0" smtClean="0"/>
              <a:t>: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if condition:</a:t>
            </a:r>
          </a:p>
          <a:p>
            <a:pPr marL="0" indent="0">
              <a:buNone/>
            </a:pPr>
            <a:r>
              <a:rPr lang="en-GB" dirty="0"/>
              <a:t>        continue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statements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96953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pass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pass statement does nothing. It is used as a placeholder where code will be written later</a:t>
            </a:r>
            <a:r>
              <a:rPr lang="en-GB" dirty="0" smtClean="0"/>
              <a:t>.</a:t>
            </a:r>
          </a:p>
          <a:p>
            <a:r>
              <a:rPr lang="en-GB" dirty="0" smtClean="0"/>
              <a:t>Syntax:</a:t>
            </a:r>
          </a:p>
          <a:p>
            <a:pPr marL="0" indent="0">
              <a:buNone/>
            </a:pPr>
            <a:r>
              <a:rPr lang="en-IN" dirty="0"/>
              <a:t>if condition:</a:t>
            </a:r>
          </a:p>
          <a:p>
            <a:pPr marL="0" indent="0">
              <a:buNone/>
            </a:pPr>
            <a:r>
              <a:rPr lang="en-IN" dirty="0"/>
              <a:t>    pass</a:t>
            </a:r>
          </a:p>
        </p:txBody>
      </p:sp>
    </p:spTree>
    <p:extLst>
      <p:ext uri="{BB962C8B-B14F-4D97-AF65-F5344CB8AC3E}">
        <p14:creationId xmlns:p14="http://schemas.microsoft.com/office/powerpoint/2010/main" val="2558872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 Statements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GB" sz="8000" b="1" dirty="0"/>
              <a:t>Problem </a:t>
            </a:r>
            <a:r>
              <a:rPr lang="en-GB" sz="8000" b="1" dirty="0" smtClean="0"/>
              <a:t>Statement-1</a:t>
            </a:r>
            <a:endParaRPr lang="en-GB" sz="8000" b="1" dirty="0"/>
          </a:p>
          <a:p>
            <a:r>
              <a:rPr lang="en-GB" sz="8000" dirty="0"/>
              <a:t>An ATM should allow a customer to withdraw money only if their account balance is greater than or equal to the requested amount</a:t>
            </a:r>
            <a:r>
              <a:rPr lang="en-GB" sz="8000" dirty="0" smtClean="0"/>
              <a:t>.</a:t>
            </a:r>
          </a:p>
          <a:p>
            <a:r>
              <a:rPr lang="en-GB" sz="8000" b="1" dirty="0"/>
              <a:t>Problem </a:t>
            </a:r>
            <a:r>
              <a:rPr lang="en-GB" sz="8000" b="1" dirty="0" smtClean="0"/>
              <a:t>Statement-2</a:t>
            </a:r>
            <a:endParaRPr lang="en-GB" sz="8000" b="1" dirty="0"/>
          </a:p>
          <a:p>
            <a:r>
              <a:rPr lang="en-GB" sz="8000" dirty="0"/>
              <a:t>A college wants to assign grades based on students' marks.</a:t>
            </a:r>
          </a:p>
          <a:p>
            <a:r>
              <a:rPr lang="en-GB" sz="8000" dirty="0"/>
              <a:t>90–100 → A+ </a:t>
            </a:r>
          </a:p>
          <a:p>
            <a:r>
              <a:rPr lang="en-GB" sz="8000" dirty="0"/>
              <a:t>75–89 → A </a:t>
            </a:r>
          </a:p>
          <a:p>
            <a:r>
              <a:rPr lang="en-GB" sz="8000" dirty="0"/>
              <a:t>60–74 → B </a:t>
            </a:r>
          </a:p>
          <a:p>
            <a:r>
              <a:rPr lang="en-GB" sz="8000" dirty="0"/>
              <a:t>35–59 → C </a:t>
            </a:r>
          </a:p>
          <a:p>
            <a:r>
              <a:rPr lang="en-GB" sz="8000" dirty="0"/>
              <a:t>Below 35 → Fail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388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Problem Statement</a:t>
            </a:r>
          </a:p>
          <a:p>
            <a:r>
              <a:rPr lang="en-GB" dirty="0"/>
              <a:t>Write a Python program that allows a user to enter the password. The user gets a maximum of </a:t>
            </a:r>
            <a:r>
              <a:rPr lang="en-GB" b="1" dirty="0"/>
              <a:t>3 attempts</a:t>
            </a:r>
            <a:r>
              <a:rPr lang="en-GB" dirty="0"/>
              <a:t>. If the correct password is entered, display </a:t>
            </a:r>
            <a:r>
              <a:rPr lang="en-GB" b="1" dirty="0"/>
              <a:t>"Login Successful"</a:t>
            </a:r>
            <a:r>
              <a:rPr lang="en-GB" dirty="0"/>
              <a:t>; otherwise, display </a:t>
            </a:r>
            <a:r>
              <a:rPr lang="en-GB" b="1" dirty="0"/>
              <a:t>"Account Locked</a:t>
            </a:r>
            <a:r>
              <a:rPr lang="en-GB" b="1" dirty="0" smtClean="0"/>
              <a:t>"</a:t>
            </a:r>
            <a:r>
              <a:rPr lang="en-GB" dirty="0" smtClean="0"/>
              <a:t>.</a:t>
            </a:r>
          </a:p>
          <a:p>
            <a:r>
              <a:rPr lang="en-GB" b="1" dirty="0"/>
              <a:t>Problem Statement</a:t>
            </a:r>
          </a:p>
          <a:p>
            <a:r>
              <a:rPr lang="en-GB" dirty="0"/>
              <a:t>Write a Python program to print numbers from 1 to 50, but skip numbers that are multiples of 5.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379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Problem Statement</a:t>
            </a:r>
          </a:p>
          <a:p>
            <a:r>
              <a:rPr lang="en-GB" dirty="0"/>
              <a:t>A robot can climb either </a:t>
            </a:r>
            <a:r>
              <a:rPr lang="en-GB" b="1" dirty="0"/>
              <a:t>1 stair</a:t>
            </a:r>
            <a:r>
              <a:rPr lang="en-GB" dirty="0"/>
              <a:t> or </a:t>
            </a:r>
            <a:r>
              <a:rPr lang="en-GB" b="1" dirty="0"/>
              <a:t>2 stairs</a:t>
            </a:r>
            <a:r>
              <a:rPr lang="en-GB" dirty="0"/>
              <a:t> at a time.</a:t>
            </a:r>
          </a:p>
          <a:p>
            <a:r>
              <a:rPr lang="en-GB" dirty="0"/>
              <a:t>Write a Python program to determine the number of different ways the robot can reach the </a:t>
            </a:r>
            <a:r>
              <a:rPr lang="en-GB" b="1" dirty="0"/>
              <a:t>nth</a:t>
            </a:r>
            <a:r>
              <a:rPr lang="en-GB" dirty="0"/>
              <a:t> stair</a:t>
            </a:r>
            <a:r>
              <a:rPr lang="en-GB" dirty="0" smtClean="0"/>
              <a:t>.</a:t>
            </a:r>
          </a:p>
          <a:p>
            <a:r>
              <a:rPr lang="en-GB" dirty="0" smtClean="0"/>
              <a:t>Sample output:</a:t>
            </a:r>
          </a:p>
          <a:p>
            <a:r>
              <a:rPr lang="en-GB" dirty="0"/>
              <a:t>Enter Number of Stairs: 5</a:t>
            </a:r>
          </a:p>
          <a:p>
            <a:endParaRPr lang="en-GB" dirty="0"/>
          </a:p>
          <a:p>
            <a:r>
              <a:rPr lang="en-GB" dirty="0"/>
              <a:t>Number of Ways = 8</a:t>
            </a:r>
          </a:p>
        </p:txBody>
      </p:sp>
    </p:spTree>
    <p:extLst>
      <p:ext uri="{BB962C8B-B14F-4D97-AF65-F5344CB8AC3E}">
        <p14:creationId xmlns:p14="http://schemas.microsoft.com/office/powerpoint/2010/main" val="2013242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1" dirty="0"/>
              <a:t>Problem Statement</a:t>
            </a:r>
          </a:p>
          <a:p>
            <a:r>
              <a:rPr lang="en-GB" dirty="0"/>
              <a:t>An investor decides to invest money every month according to the Fibonacci sequence</a:t>
            </a:r>
            <a:r>
              <a:rPr lang="en-GB" dirty="0" smtClean="0"/>
              <a:t>.</a:t>
            </a:r>
          </a:p>
          <a:p>
            <a:r>
              <a:rPr lang="en-GB" b="1" dirty="0"/>
              <a:t>Month 1 → ₹1000</a:t>
            </a:r>
          </a:p>
          <a:p>
            <a:r>
              <a:rPr lang="en-GB" b="1" dirty="0"/>
              <a:t>Month 2 → ₹1000</a:t>
            </a:r>
          </a:p>
          <a:p>
            <a:r>
              <a:rPr lang="en-GB" b="1" dirty="0"/>
              <a:t>Month 3 → ₹2000</a:t>
            </a:r>
          </a:p>
          <a:p>
            <a:r>
              <a:rPr lang="en-GB" b="1" dirty="0"/>
              <a:t>Month 4 → ₹3000</a:t>
            </a:r>
          </a:p>
          <a:p>
            <a:r>
              <a:rPr lang="en-GB" b="1" dirty="0"/>
              <a:t>Month 5 → ₹5000</a:t>
            </a:r>
          </a:p>
          <a:p>
            <a:r>
              <a:rPr lang="en-GB" b="1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48846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Continue..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Write a Python program to:</a:t>
            </a:r>
          </a:p>
          <a:p>
            <a:r>
              <a:rPr lang="en-GB" dirty="0"/>
              <a:t>Read the number of months. </a:t>
            </a:r>
          </a:p>
          <a:p>
            <a:r>
              <a:rPr lang="en-GB" dirty="0"/>
              <a:t>Display the monthly investment. </a:t>
            </a:r>
          </a:p>
          <a:p>
            <a:r>
              <a:rPr lang="en-GB" dirty="0"/>
              <a:t>Calculate the total investment. </a:t>
            </a:r>
          </a:p>
          <a:p>
            <a:r>
              <a:rPr lang="en-GB" dirty="0"/>
              <a:t>Display the highest monthly investment.</a:t>
            </a:r>
          </a:p>
        </p:txBody>
      </p:sp>
    </p:spTree>
    <p:extLst>
      <p:ext uri="{BB962C8B-B14F-4D97-AF65-F5344CB8AC3E}">
        <p14:creationId xmlns:p14="http://schemas.microsoft.com/office/powerpoint/2010/main" val="1973921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606175"/>
            <a:ext cx="9601196" cy="5269693"/>
          </a:xfrm>
        </p:spPr>
        <p:txBody>
          <a:bodyPr>
            <a:noAutofit/>
          </a:bodyPr>
          <a:lstStyle/>
          <a:p>
            <a:r>
              <a:rPr lang="en-GB" sz="3200" dirty="0" smtClean="0"/>
              <a:t>Problem Statement:</a:t>
            </a:r>
          </a:p>
          <a:p>
            <a:r>
              <a:rPr lang="en-GB" sz="3200" dirty="0" smtClean="0"/>
              <a:t>Write </a:t>
            </a:r>
            <a:r>
              <a:rPr lang="en-GB" sz="3200" dirty="0"/>
              <a:t>a program to print only the even numbers from 1 to 20. Skip all odd numbers using continue</a:t>
            </a:r>
            <a:r>
              <a:rPr lang="en-GB" sz="3200" dirty="0" smtClean="0"/>
              <a:t>.</a:t>
            </a:r>
          </a:p>
          <a:p>
            <a:r>
              <a:rPr lang="en-GB" sz="3200" dirty="0"/>
              <a:t>Expected </a:t>
            </a:r>
            <a:r>
              <a:rPr lang="en-GB" sz="3200" dirty="0" smtClean="0"/>
              <a:t>Output</a:t>
            </a:r>
          </a:p>
          <a:p>
            <a:r>
              <a:rPr lang="en-GB" sz="3200" dirty="0" smtClean="0"/>
              <a:t>2</a:t>
            </a:r>
            <a:endParaRPr lang="en-GB" sz="3200" dirty="0"/>
          </a:p>
          <a:p>
            <a:r>
              <a:rPr lang="en-GB" sz="3200" dirty="0"/>
              <a:t>4</a:t>
            </a:r>
          </a:p>
          <a:p>
            <a:r>
              <a:rPr lang="en-GB" sz="3200" dirty="0"/>
              <a:t>6</a:t>
            </a:r>
          </a:p>
          <a:p>
            <a:r>
              <a:rPr lang="en-GB" sz="3200" dirty="0"/>
              <a:t>8</a:t>
            </a:r>
          </a:p>
          <a:p>
            <a:r>
              <a:rPr lang="en-GB" sz="3200" dirty="0"/>
              <a:t>10</a:t>
            </a:r>
          </a:p>
          <a:p>
            <a:r>
              <a:rPr lang="en-GB" sz="3200" dirty="0"/>
              <a:t>12</a:t>
            </a:r>
          </a:p>
          <a:p>
            <a:r>
              <a:rPr lang="en-GB" sz="3200" dirty="0"/>
              <a:t>14</a:t>
            </a:r>
          </a:p>
          <a:p>
            <a:r>
              <a:rPr lang="en-GB" sz="3200" dirty="0"/>
              <a:t>16</a:t>
            </a:r>
          </a:p>
          <a:p>
            <a:r>
              <a:rPr lang="en-GB" sz="3200" dirty="0"/>
              <a:t>18</a:t>
            </a:r>
          </a:p>
          <a:p>
            <a:r>
              <a:rPr lang="en-GB" sz="3200" dirty="0"/>
              <a:t>20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7734250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965771"/>
            <a:ext cx="9601196" cy="4910097"/>
          </a:xfrm>
        </p:spPr>
        <p:txBody>
          <a:bodyPr>
            <a:normAutofit/>
          </a:bodyPr>
          <a:lstStyle/>
          <a:p>
            <a:r>
              <a:rPr lang="en-GB" sz="2800" b="1" dirty="0"/>
              <a:t>Problem Statement</a:t>
            </a:r>
          </a:p>
          <a:p>
            <a:r>
              <a:rPr lang="en-GB" sz="2800" dirty="0"/>
              <a:t>Given a string, find the first vowel and stop searching.</a:t>
            </a:r>
          </a:p>
          <a:p>
            <a:r>
              <a:rPr lang="en-GB" sz="2800" b="1" dirty="0"/>
              <a:t>Sample Input</a:t>
            </a:r>
            <a:endParaRPr lang="en-GB" sz="2800" dirty="0"/>
          </a:p>
          <a:p>
            <a:r>
              <a:rPr lang="en-IN" sz="2800" dirty="0" err="1" smtClean="0"/>
              <a:t>Rhythmapple</a:t>
            </a:r>
            <a:endParaRPr lang="en-IN" sz="2800" dirty="0" smtClean="0"/>
          </a:p>
          <a:p>
            <a:r>
              <a:rPr lang="en-IN" sz="2800" dirty="0"/>
              <a:t>Expected </a:t>
            </a:r>
            <a:r>
              <a:rPr lang="en-IN" sz="2800" dirty="0" smtClean="0"/>
              <a:t>Output:</a:t>
            </a:r>
          </a:p>
          <a:p>
            <a:r>
              <a:rPr lang="en-IN" sz="2800" dirty="0"/>
              <a:t>First vowel: a</a:t>
            </a:r>
          </a:p>
        </p:txBody>
      </p:sp>
    </p:spTree>
    <p:extLst>
      <p:ext uri="{BB962C8B-B14F-4D97-AF65-F5344CB8AC3E}">
        <p14:creationId xmlns:p14="http://schemas.microsoft.com/office/powerpoint/2010/main" val="17410460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801384"/>
            <a:ext cx="9601196" cy="5074484"/>
          </a:xfrm>
        </p:spPr>
        <p:txBody>
          <a:bodyPr>
            <a:normAutofit/>
          </a:bodyPr>
          <a:lstStyle/>
          <a:p>
            <a:r>
              <a:rPr lang="en-GB" sz="3200" b="1" dirty="0"/>
              <a:t>Problem Statement</a:t>
            </a:r>
          </a:p>
          <a:p>
            <a:r>
              <a:rPr lang="en-GB" sz="3200" dirty="0"/>
              <a:t>Write a program to print numbers from </a:t>
            </a:r>
            <a:r>
              <a:rPr lang="en-GB" sz="3200" b="1" dirty="0"/>
              <a:t>1 to 100</a:t>
            </a:r>
            <a:r>
              <a:rPr lang="en-GB" sz="3200" dirty="0"/>
              <a:t> with the following conditions:</a:t>
            </a:r>
          </a:p>
          <a:p>
            <a:r>
              <a:rPr lang="en-GB" sz="3200" dirty="0"/>
              <a:t>Skip numbers divisible by </a:t>
            </a:r>
            <a:r>
              <a:rPr lang="en-GB" sz="3200" b="1" dirty="0"/>
              <a:t>5</a:t>
            </a:r>
            <a:r>
              <a:rPr lang="en-GB" sz="3200" dirty="0"/>
              <a:t>. </a:t>
            </a:r>
          </a:p>
          <a:p>
            <a:r>
              <a:rPr lang="en-GB" sz="3200" dirty="0"/>
              <a:t>Stop the loop completely if the number reaches </a:t>
            </a:r>
            <a:r>
              <a:rPr lang="en-GB" sz="3200" b="1" dirty="0"/>
              <a:t>75</a:t>
            </a:r>
            <a:r>
              <a:rPr lang="en-GB" sz="3200" dirty="0"/>
              <a:t>. </a:t>
            </a:r>
          </a:p>
          <a:p>
            <a:r>
              <a:rPr lang="en-GB" sz="3200" b="1" dirty="0"/>
              <a:t>Expected Output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2360695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1</a:t>
            </a:r>
          </a:p>
          <a:p>
            <a:r>
              <a:rPr lang="en-GB" b="1" dirty="0"/>
              <a:t>2</a:t>
            </a:r>
          </a:p>
          <a:p>
            <a:r>
              <a:rPr lang="en-GB" b="1" dirty="0"/>
              <a:t>3</a:t>
            </a:r>
          </a:p>
          <a:p>
            <a:r>
              <a:rPr lang="en-GB" b="1" dirty="0"/>
              <a:t>4</a:t>
            </a:r>
          </a:p>
          <a:p>
            <a:r>
              <a:rPr lang="en-GB" b="1" dirty="0"/>
              <a:t>6</a:t>
            </a:r>
          </a:p>
          <a:p>
            <a:r>
              <a:rPr lang="en-GB" b="1" dirty="0"/>
              <a:t>7</a:t>
            </a:r>
          </a:p>
          <a:p>
            <a:r>
              <a:rPr lang="en-GB" b="1" dirty="0"/>
              <a:t>...</a:t>
            </a:r>
          </a:p>
          <a:p>
            <a:r>
              <a:rPr lang="en-GB" b="1" dirty="0"/>
              <a:t>74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68502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Print only alphabets from a given string</a:t>
            </a:r>
            <a:r>
              <a:rPr lang="en-GB" sz="3200" dirty="0" smtClean="0"/>
              <a:t>.</a:t>
            </a:r>
          </a:p>
          <a:p>
            <a:r>
              <a:rPr lang="en-GB" sz="3200" dirty="0"/>
              <a:t>Bus Seat </a:t>
            </a:r>
            <a:r>
              <a:rPr lang="en-GB" sz="3200" dirty="0" smtClean="0"/>
              <a:t>Booking</a:t>
            </a:r>
          </a:p>
          <a:p>
            <a:r>
              <a:rPr lang="en-GB" sz="3200" dirty="0" smtClean="0"/>
              <a:t>Seat </a:t>
            </a:r>
            <a:r>
              <a:rPr lang="en-GB" sz="3200" dirty="0"/>
              <a:t>numbers:1 2 Reserved 3 4 </a:t>
            </a:r>
            <a:endParaRPr lang="en-GB" sz="3200" dirty="0" smtClean="0"/>
          </a:p>
          <a:p>
            <a:r>
              <a:rPr lang="en-GB" sz="3200" dirty="0" smtClean="0"/>
              <a:t>Full </a:t>
            </a:r>
            <a:r>
              <a:rPr lang="en-GB" sz="3200" dirty="0"/>
              <a:t>5Rules:Skip reserved seats</a:t>
            </a:r>
            <a:r>
              <a:rPr lang="en-GB" sz="3200" dirty="0" smtClean="0"/>
              <a:t>.</a:t>
            </a:r>
          </a:p>
          <a:p>
            <a:r>
              <a:rPr lang="en-GB" sz="3200" dirty="0" smtClean="0"/>
              <a:t>Stop </a:t>
            </a:r>
            <a:r>
              <a:rPr lang="en-GB" sz="3200" dirty="0"/>
              <a:t>booking when "Full" appears.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700848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Fibonacci series</a:t>
            </a:r>
            <a:r>
              <a:rPr lang="en-IN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Fibonacci series</a:t>
            </a:r>
            <a:r>
              <a:rPr lang="en-GB" dirty="0"/>
              <a:t> is a sequence of numbers where each number is the </a:t>
            </a:r>
            <a:r>
              <a:rPr lang="en-GB" b="1" dirty="0"/>
              <a:t>sum of the previous two numbers</a:t>
            </a:r>
            <a:r>
              <a:rPr lang="en-GB" dirty="0" smtClean="0"/>
              <a:t>.</a:t>
            </a:r>
          </a:p>
          <a:p>
            <a:r>
              <a:rPr lang="en-IN" dirty="0"/>
              <a:t>The sequence starts with</a:t>
            </a:r>
            <a:r>
              <a:rPr lang="en-IN" dirty="0" smtClean="0"/>
              <a:t>:</a:t>
            </a:r>
          </a:p>
          <a:p>
            <a:r>
              <a:rPr lang="en-IN" b="1" dirty="0"/>
              <a:t>0, 1, 1, 2, 3, 5, 8, 13, 21, 34, ...</a:t>
            </a:r>
          </a:p>
        </p:txBody>
      </p:sp>
    </p:spTree>
    <p:extLst>
      <p:ext uri="{BB962C8B-B14F-4D97-AF65-F5344CB8AC3E}">
        <p14:creationId xmlns:p14="http://schemas.microsoft.com/office/powerpoint/2010/main" val="371706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572</TotalTime>
  <Words>1100</Words>
  <Application>Microsoft Office PowerPoint</Application>
  <PresentationFormat>Widescreen</PresentationFormat>
  <Paragraphs>214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Garamond</vt:lpstr>
      <vt:lpstr>Wingdings</vt:lpstr>
      <vt:lpstr>Organic</vt:lpstr>
      <vt:lpstr>Control Statements in Python</vt:lpstr>
      <vt:lpstr>Control Statements</vt:lpstr>
      <vt:lpstr>Types of Control Statements</vt:lpstr>
      <vt:lpstr>1. Selection Statements</vt:lpstr>
      <vt:lpstr>Flow of a Selection Statement</vt:lpstr>
      <vt:lpstr>1. if Statement</vt:lpstr>
      <vt:lpstr>2. if...else Statement</vt:lpstr>
      <vt:lpstr>3. if...elif...else Statement</vt:lpstr>
      <vt:lpstr>4. Nested if</vt:lpstr>
      <vt:lpstr>5. Short-hand if</vt:lpstr>
      <vt:lpstr>6. Short-hand if...else (Ternary Operator)</vt:lpstr>
      <vt:lpstr>Loop Statements</vt:lpstr>
      <vt:lpstr>1. for Loop</vt:lpstr>
      <vt:lpstr>PowerPoint Presentation</vt:lpstr>
      <vt:lpstr>2. while Loop</vt:lpstr>
      <vt:lpstr>range()</vt:lpstr>
      <vt:lpstr>Difference Between for and while</vt:lpstr>
      <vt:lpstr>Nested Loops</vt:lpstr>
      <vt:lpstr>Types of Nested Loops</vt:lpstr>
      <vt:lpstr>1. Nested for Loop</vt:lpstr>
      <vt:lpstr>2. Nested while Loop</vt:lpstr>
      <vt:lpstr>Jump Statements</vt:lpstr>
      <vt:lpstr>Types of Jump Statements</vt:lpstr>
      <vt:lpstr>1. break Statement</vt:lpstr>
      <vt:lpstr>continue Statement</vt:lpstr>
      <vt:lpstr>pass Statement</vt:lpstr>
      <vt:lpstr>Problem Statements</vt:lpstr>
      <vt:lpstr>Problem Statement</vt:lpstr>
      <vt:lpstr>Problem Statement</vt:lpstr>
      <vt:lpstr>Problem Statement</vt:lpstr>
      <vt:lpstr>Continue..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Fibonacci series 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Statements in Python</dc:title>
  <dc:creator>Microsoft account</dc:creator>
  <cp:lastModifiedBy>Microsoft account</cp:lastModifiedBy>
  <cp:revision>26</cp:revision>
  <dcterms:created xsi:type="dcterms:W3CDTF">2026-07-21T06:00:15Z</dcterms:created>
  <dcterms:modified xsi:type="dcterms:W3CDTF">2026-07-24T04:02:41Z</dcterms:modified>
</cp:coreProperties>
</file>