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68" r:id="rId16"/>
    <p:sldId id="272" r:id="rId17"/>
    <p:sldId id="273" r:id="rId18"/>
    <p:sldId id="274" r:id="rId19"/>
    <p:sldId id="276" r:id="rId20"/>
    <p:sldId id="277" r:id="rId21"/>
    <p:sldId id="278" r:id="rId22"/>
    <p:sldId id="279" r:id="rId23"/>
    <p:sldId id="27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73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DA83413-E706-42D5-8395-CC375FBE6A8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C9E47E2-FF36-4092-8FBF-A820403CE37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7301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3413-E706-42D5-8395-CC375FBE6A8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E47E2-FF36-4092-8FBF-A820403CE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506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3413-E706-42D5-8395-CC375FBE6A8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E47E2-FF36-4092-8FBF-A820403CE37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2889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3413-E706-42D5-8395-CC375FBE6A8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E47E2-FF36-4092-8FBF-A820403CE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173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3413-E706-42D5-8395-CC375FBE6A8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E47E2-FF36-4092-8FBF-A820403CE37B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762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3413-E706-42D5-8395-CC375FBE6A8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E47E2-FF36-4092-8FBF-A820403CE37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674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3413-E706-42D5-8395-CC375FBE6A8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E47E2-FF36-4092-8FBF-A820403CE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161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3413-E706-42D5-8395-CC375FBE6A8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E47E2-FF36-4092-8FBF-A820403CE37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4869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3413-E706-42D5-8395-CC375FBE6A8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E47E2-FF36-4092-8FBF-A820403CE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493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3413-E706-42D5-8395-CC375FBE6A8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E47E2-FF36-4092-8FBF-A820403CE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96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3413-E706-42D5-8395-CC375FBE6A8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E47E2-FF36-4092-8FBF-A820403CE37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54208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3413-E706-42D5-8395-CC375FBE6A8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E47E2-FF36-4092-8FBF-A820403CE37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2937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3413-E706-42D5-8395-CC375FBE6A8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E47E2-FF36-4092-8FBF-A820403CE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1643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3413-E706-42D5-8395-CC375FBE6A8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E47E2-FF36-4092-8FBF-A820403CE37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01263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3413-E706-42D5-8395-CC375FBE6A8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E47E2-FF36-4092-8FBF-A820403CE37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9089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3413-E706-42D5-8395-CC375FBE6A8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E47E2-FF36-4092-8FBF-A820403CE37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0675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3413-E706-42D5-8395-CC375FBE6A8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E47E2-FF36-4092-8FBF-A820403CE37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511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DA83413-E706-42D5-8395-CC375FBE6A8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C9E47E2-FF36-4092-8FBF-A820403CE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000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Operators</a:t>
            </a:r>
          </a:p>
        </p:txBody>
      </p:sp>
    </p:spTree>
    <p:extLst>
      <p:ext uri="{BB962C8B-B14F-4D97-AF65-F5344CB8AC3E}">
        <p14:creationId xmlns:p14="http://schemas.microsoft.com/office/powerpoint/2010/main" val="3470388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800" dirty="0"/>
              <a:t>a      +      b</a:t>
            </a:r>
          </a:p>
          <a:p>
            <a:r>
              <a:rPr lang="en-IN" sz="2800" dirty="0"/>
              <a:t>↑             ↑</a:t>
            </a:r>
          </a:p>
          <a:p>
            <a:r>
              <a:rPr lang="en-IN" sz="2800" dirty="0"/>
              <a:t>Operands</a:t>
            </a:r>
          </a:p>
          <a:p>
            <a:endParaRPr lang="en-IN" sz="2800" dirty="0"/>
          </a:p>
          <a:p>
            <a:pPr marL="0" indent="0">
              <a:buNone/>
            </a:pPr>
            <a:endParaRPr lang="en-IN" sz="2800" dirty="0"/>
          </a:p>
          <a:p>
            <a:r>
              <a:rPr lang="en-IN" sz="2800" dirty="0" smtClean="0"/>
              <a:t>                         Operator</a:t>
            </a:r>
            <a:endParaRPr lang="en-IN" sz="2800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352783" y="2928135"/>
            <a:ext cx="1458929" cy="1993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440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Classification of Operators</a:t>
            </a:r>
          </a:p>
        </p:txBody>
      </p:sp>
      <p:pic>
        <p:nvPicPr>
          <p:cNvPr id="19" name="Content Placeholder 1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2759" y="2476072"/>
            <a:ext cx="9986481" cy="372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222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0092" y="911544"/>
            <a:ext cx="9601196" cy="1569639"/>
          </a:xfrm>
        </p:spPr>
        <p:txBody>
          <a:bodyPr>
            <a:normAutofit/>
          </a:bodyPr>
          <a:lstStyle/>
          <a:p>
            <a:r>
              <a:rPr lang="en-IN" sz="5400" dirty="0"/>
              <a:t>Arithmetic Operator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4012148"/>
              </p:ext>
            </p:extLst>
          </p:nvPr>
        </p:nvGraphicFramePr>
        <p:xfrm>
          <a:off x="1420090" y="2556164"/>
          <a:ext cx="9601200" cy="352252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3200400"/>
              </a:tblGrid>
              <a:tr h="440315">
                <a:tc>
                  <a:txBody>
                    <a:bodyPr/>
                    <a:lstStyle/>
                    <a:p>
                      <a:r>
                        <a:rPr lang="en-IN" dirty="0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0315">
                <a:tc>
                  <a:txBody>
                    <a:bodyPr/>
                    <a:lstStyle/>
                    <a:p>
                      <a:r>
                        <a:rPr lang="en-IN" dirty="0"/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Addition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10+5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0315">
                <a:tc>
                  <a:txBody>
                    <a:bodyPr/>
                    <a:lstStyle/>
                    <a:p>
                      <a:r>
                        <a:rPr lang="en-IN"/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Subtraction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10-5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0315">
                <a:tc>
                  <a:txBody>
                    <a:bodyPr/>
                    <a:lstStyle/>
                    <a:p>
                      <a:r>
                        <a:rPr lang="en-IN"/>
                        <a:t>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Multiplication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10*5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0315">
                <a:tc>
                  <a:txBody>
                    <a:bodyPr/>
                    <a:lstStyle/>
                    <a:p>
                      <a:r>
                        <a:rPr lang="en-IN"/>
                        <a:t>/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Division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10/3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0315">
                <a:tc>
                  <a:txBody>
                    <a:bodyPr/>
                    <a:lstStyle/>
                    <a:p>
                      <a:r>
                        <a:rPr lang="en-IN"/>
                        <a:t>//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Floor Division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10//3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0315">
                <a:tc>
                  <a:txBody>
                    <a:bodyPr/>
                    <a:lstStyle/>
                    <a:p>
                      <a:r>
                        <a:rPr lang="en-IN"/>
                        <a:t>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Modulus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10%3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0315">
                <a:tc>
                  <a:txBody>
                    <a:bodyPr/>
                    <a:lstStyle/>
                    <a:p>
                      <a:r>
                        <a:rPr lang="en-IN"/>
                        <a:t>**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2**5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151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 (Relational) Operators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2346087"/>
              </p:ext>
            </p:extLst>
          </p:nvPr>
        </p:nvGraphicFramePr>
        <p:xfrm>
          <a:off x="1295400" y="2640458"/>
          <a:ext cx="9601200" cy="3431568"/>
        </p:xfrm>
        <a:graphic>
          <a:graphicData uri="http://schemas.openxmlformats.org/drawingml/2006/table">
            <a:tbl>
              <a:tblPr/>
              <a:tblGrid>
                <a:gridCol w="4800600"/>
                <a:gridCol w="4800600"/>
              </a:tblGrid>
              <a:tr h="490224">
                <a:tc>
                  <a:txBody>
                    <a:bodyPr/>
                    <a:lstStyle/>
                    <a:p>
                      <a:r>
                        <a:rPr lang="en-IN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0224">
                <a:tc>
                  <a:txBody>
                    <a:bodyPr/>
                    <a:lstStyle/>
                    <a:p>
                      <a:r>
                        <a:rPr lang="en-IN"/>
                        <a:t>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Greater than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0224">
                <a:tc>
                  <a:txBody>
                    <a:bodyPr/>
                    <a:lstStyle/>
                    <a:p>
                      <a:r>
                        <a:rPr lang="en-IN"/>
                        <a:t>&lt;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Less than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0224">
                <a:tc>
                  <a:txBody>
                    <a:bodyPr/>
                    <a:lstStyle/>
                    <a:p>
                      <a:r>
                        <a:rPr lang="en-IN"/>
                        <a:t>&gt;=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Greater than or equal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0224">
                <a:tc>
                  <a:txBody>
                    <a:bodyPr/>
                    <a:lstStyle/>
                    <a:p>
                      <a:r>
                        <a:rPr lang="en-IN"/>
                        <a:t>&lt;=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Less than or equal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0224">
                <a:tc>
                  <a:txBody>
                    <a:bodyPr/>
                    <a:lstStyle/>
                    <a:p>
                      <a:r>
                        <a:rPr lang="en-IN"/>
                        <a:t>==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Equal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0224">
                <a:tc>
                  <a:txBody>
                    <a:bodyPr/>
                    <a:lstStyle/>
                    <a:p>
                      <a:r>
                        <a:rPr lang="en-IN"/>
                        <a:t>!=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Not equal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9254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Assignment Operators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295400" y="2570480"/>
          <a:ext cx="9601200" cy="3291840"/>
        </p:xfrm>
        <a:graphic>
          <a:graphicData uri="http://schemas.openxmlformats.org/drawingml/2006/table">
            <a:tbl>
              <a:tblPr/>
              <a:tblGrid>
                <a:gridCol w="4800600"/>
                <a:gridCol w="4800600"/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Assign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+=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Add and assign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-=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Subtract and assign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*=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Multiply and assign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/=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Divide and assign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//=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Floor divide and assign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%=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Modulus and assign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**=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Exponent and assign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7511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Logical Operators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243401"/>
              </p:ext>
            </p:extLst>
          </p:nvPr>
        </p:nvGraphicFramePr>
        <p:xfrm>
          <a:off x="1295400" y="2712379"/>
          <a:ext cx="9601200" cy="3349374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3200400"/>
              </a:tblGrid>
              <a:tr h="535899">
                <a:tc>
                  <a:txBody>
                    <a:bodyPr/>
                    <a:lstStyle/>
                    <a:p>
                      <a:r>
                        <a:rPr lang="en-IN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37825">
                <a:tc>
                  <a:txBody>
                    <a:bodyPr/>
                    <a:lstStyle/>
                    <a:p>
                      <a:r>
                        <a:rPr lang="en-IN"/>
                        <a:t>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Logical 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Returns True only if </a:t>
                      </a:r>
                      <a:r>
                        <a:rPr lang="en-GB" b="1"/>
                        <a:t>both</a:t>
                      </a:r>
                      <a:r>
                        <a:rPr lang="en-GB"/>
                        <a:t> conditions are True.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37825">
                <a:tc>
                  <a:txBody>
                    <a:bodyPr/>
                    <a:lstStyle/>
                    <a:p>
                      <a:r>
                        <a:rPr lang="en-IN"/>
                        <a:t>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Logical 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Returns True if </a:t>
                      </a:r>
                      <a:r>
                        <a:rPr lang="en-GB" b="1"/>
                        <a:t>at least one</a:t>
                      </a:r>
                      <a:r>
                        <a:rPr lang="en-GB"/>
                        <a:t> condition is True.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37825">
                <a:tc>
                  <a:txBody>
                    <a:bodyPr/>
                    <a:lstStyle/>
                    <a:p>
                      <a:r>
                        <a:rPr lang="en-IN"/>
                        <a:t>not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Logical NOT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Reverses the Boolean value (True becomes False and vice versa).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3314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Logical AND (and)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Truth </a:t>
            </a:r>
            <a:r>
              <a:rPr lang="en-IN" dirty="0" smtClean="0"/>
              <a:t>Table</a:t>
            </a:r>
          </a:p>
          <a:p>
            <a:endParaRPr lang="en-I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07730"/>
              </p:ext>
            </p:extLst>
          </p:nvPr>
        </p:nvGraphicFramePr>
        <p:xfrm>
          <a:off x="1295400" y="3092520"/>
          <a:ext cx="9601200" cy="30617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3200400"/>
              </a:tblGrid>
              <a:tr h="612340">
                <a:tc>
                  <a:txBody>
                    <a:bodyPr/>
                    <a:lstStyle/>
                    <a:p>
                      <a:r>
                        <a:rPr lang="en-IN"/>
                        <a:t>Condition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Condition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12340"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12340"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12340">
                <a:tc>
                  <a:txBody>
                    <a:bodyPr/>
                    <a:lstStyle/>
                    <a:p>
                      <a:r>
                        <a:rPr lang="en-IN"/>
                        <a:t>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12340">
                <a:tc>
                  <a:txBody>
                    <a:bodyPr/>
                    <a:lstStyle/>
                    <a:p>
                      <a:r>
                        <a:rPr lang="en-IN"/>
                        <a:t>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4248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Logical OR (or)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Truth Table</a:t>
            </a:r>
          </a:p>
          <a:p>
            <a:endParaRPr lang="en-I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394102"/>
              </p:ext>
            </p:extLst>
          </p:nvPr>
        </p:nvGraphicFramePr>
        <p:xfrm>
          <a:off x="1376736" y="3000055"/>
          <a:ext cx="9519864" cy="3082245"/>
        </p:xfrm>
        <a:graphic>
          <a:graphicData uri="http://schemas.openxmlformats.org/drawingml/2006/table">
            <a:tbl>
              <a:tblPr/>
              <a:tblGrid>
                <a:gridCol w="3173288"/>
                <a:gridCol w="3173288"/>
                <a:gridCol w="3173288"/>
              </a:tblGrid>
              <a:tr h="616449">
                <a:tc>
                  <a:txBody>
                    <a:bodyPr/>
                    <a:lstStyle/>
                    <a:p>
                      <a:r>
                        <a:rPr lang="en-IN"/>
                        <a:t>Condition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Condition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16449"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16449"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16449">
                <a:tc>
                  <a:txBody>
                    <a:bodyPr/>
                    <a:lstStyle/>
                    <a:p>
                      <a:r>
                        <a:rPr lang="en-IN"/>
                        <a:t>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16449">
                <a:tc>
                  <a:txBody>
                    <a:bodyPr/>
                    <a:lstStyle/>
                    <a:p>
                      <a:r>
                        <a:rPr lang="en-IN"/>
                        <a:t>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68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Logical NOT (not)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0449667"/>
              </p:ext>
            </p:extLst>
          </p:nvPr>
        </p:nvGraphicFramePr>
        <p:xfrm>
          <a:off x="1295400" y="2568539"/>
          <a:ext cx="9601200" cy="3143892"/>
        </p:xfrm>
        <a:graphic>
          <a:graphicData uri="http://schemas.openxmlformats.org/drawingml/2006/table">
            <a:tbl>
              <a:tblPr/>
              <a:tblGrid>
                <a:gridCol w="4663611"/>
                <a:gridCol w="4937589"/>
              </a:tblGrid>
              <a:tr h="1047964">
                <a:tc>
                  <a:txBody>
                    <a:bodyPr/>
                    <a:lstStyle/>
                    <a:p>
                      <a:r>
                        <a:rPr lang="en-IN"/>
                        <a:t>Original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After not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47964">
                <a:tc>
                  <a:txBody>
                    <a:bodyPr/>
                    <a:lstStyle/>
                    <a:p>
                      <a:r>
                        <a:rPr lang="en-IN"/>
                        <a:t>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47964">
                <a:tc>
                  <a:txBody>
                    <a:bodyPr/>
                    <a:lstStyle/>
                    <a:p>
                      <a:r>
                        <a:rPr lang="en-IN"/>
                        <a:t>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0819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Practice problems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Example 1: Exam Eligibility </a:t>
            </a:r>
            <a:r>
              <a:rPr lang="en-GB" dirty="0" smtClean="0"/>
              <a:t>:A </a:t>
            </a:r>
            <a:r>
              <a:rPr lang="en-GB" dirty="0"/>
              <a:t>student can write the exam only </a:t>
            </a:r>
            <a:endParaRPr lang="en-GB" dirty="0" smtClean="0"/>
          </a:p>
          <a:p>
            <a:r>
              <a:rPr lang="en-GB" dirty="0" err="1" smtClean="0"/>
              <a:t>if:Attendance</a:t>
            </a:r>
            <a:r>
              <a:rPr lang="en-GB" dirty="0" smtClean="0"/>
              <a:t> </a:t>
            </a:r>
            <a:r>
              <a:rPr lang="en-GB" dirty="0"/>
              <a:t>≥ 75</a:t>
            </a:r>
            <a:r>
              <a:rPr lang="en-GB" dirty="0" smtClean="0"/>
              <a:t>%</a:t>
            </a:r>
          </a:p>
          <a:p>
            <a:r>
              <a:rPr lang="en-GB" dirty="0" smtClean="0"/>
              <a:t>Fee Paid</a:t>
            </a:r>
          </a:p>
          <a:p>
            <a:r>
              <a:rPr lang="en-GB" dirty="0"/>
              <a:t>Example 2: Scholarship Eligibility </a:t>
            </a:r>
            <a:r>
              <a:rPr lang="en-GB" dirty="0" smtClean="0"/>
              <a:t>:A </a:t>
            </a:r>
            <a:r>
              <a:rPr lang="en-GB" dirty="0"/>
              <a:t>student gets a </a:t>
            </a:r>
            <a:r>
              <a:rPr lang="en-GB" dirty="0" smtClean="0"/>
              <a:t>scholarship</a:t>
            </a:r>
          </a:p>
          <a:p>
            <a:r>
              <a:rPr lang="en-GB" dirty="0" smtClean="0"/>
              <a:t> </a:t>
            </a:r>
            <a:r>
              <a:rPr lang="en-GB" dirty="0" err="1"/>
              <a:t>if:CGPA</a:t>
            </a:r>
            <a:r>
              <a:rPr lang="en-GB" dirty="0"/>
              <a:t> ≥ 9.0 </a:t>
            </a:r>
            <a:endParaRPr lang="en-GB" dirty="0" smtClean="0"/>
          </a:p>
          <a:p>
            <a:r>
              <a:rPr lang="en-GB" dirty="0" err="1" smtClean="0"/>
              <a:t>orSports</a:t>
            </a:r>
            <a:r>
              <a:rPr lang="en-GB" dirty="0" smtClean="0"/>
              <a:t> </a:t>
            </a:r>
            <a:r>
              <a:rPr lang="en-GB" dirty="0"/>
              <a:t>quota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4188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Bitwise Operators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5635495"/>
              </p:ext>
            </p:extLst>
          </p:nvPr>
        </p:nvGraphicFramePr>
        <p:xfrm>
          <a:off x="1295400" y="2578813"/>
          <a:ext cx="9601200" cy="3390471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3200400"/>
              </a:tblGrid>
              <a:tr h="484353">
                <a:tc>
                  <a:txBody>
                    <a:bodyPr/>
                    <a:lstStyle/>
                    <a:p>
                      <a:r>
                        <a:rPr lang="en-IN" dirty="0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4353">
                <a:tc>
                  <a:txBody>
                    <a:bodyPr/>
                    <a:lstStyle/>
                    <a:p>
                      <a:r>
                        <a:rPr lang="en-IN"/>
                        <a:t>&amp;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Bitwise 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1 if both bits are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4353">
                <a:tc>
                  <a:txBody>
                    <a:bodyPr/>
                    <a:lstStyle/>
                    <a:p>
                      <a:r>
                        <a:rPr lang="en-GB" dirty="0" smtClean="0"/>
                        <a:t>|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Bitwise</a:t>
                      </a:r>
                      <a:r>
                        <a:rPr lang="en-GB" baseline="0" dirty="0" smtClean="0"/>
                        <a:t> OR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Bitwise 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4353">
                <a:tc>
                  <a:txBody>
                    <a:bodyPr/>
                    <a:lstStyle/>
                    <a:p>
                      <a:r>
                        <a:rPr lang="en-IN" dirty="0"/>
                        <a:t>^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Bitwise XOR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1 if bits are different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4353">
                <a:tc>
                  <a:txBody>
                    <a:bodyPr/>
                    <a:lstStyle/>
                    <a:p>
                      <a:r>
                        <a:rPr lang="en-IN"/>
                        <a:t>~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Bitwise NOT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Inverts all bits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4353">
                <a:tc>
                  <a:txBody>
                    <a:bodyPr/>
                    <a:lstStyle/>
                    <a:p>
                      <a:r>
                        <a:rPr lang="en-IN"/>
                        <a:t>&lt;&lt;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Left Shift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Shifts bits to the left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4353">
                <a:tc>
                  <a:txBody>
                    <a:bodyPr/>
                    <a:lstStyle/>
                    <a:p>
                      <a:r>
                        <a:rPr lang="en-IN"/>
                        <a:t>&gt;&gt;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Right Shift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Shifts bits to the right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101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Membership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Membership operators are used to check whether a value exists in a sequence such as a string, list, tuple, or set</a:t>
            </a:r>
            <a:r>
              <a:rPr lang="en-GB" dirty="0" smtClean="0"/>
              <a:t>.</a:t>
            </a:r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766014"/>
              </p:ext>
            </p:extLst>
          </p:nvPr>
        </p:nvGraphicFramePr>
        <p:xfrm>
          <a:off x="1295400" y="3667760"/>
          <a:ext cx="9601200" cy="2322075"/>
        </p:xfrm>
        <a:graphic>
          <a:graphicData uri="http://schemas.openxmlformats.org/drawingml/2006/table">
            <a:tbl>
              <a:tblPr/>
              <a:tblGrid>
                <a:gridCol w="4800600"/>
                <a:gridCol w="4800600"/>
              </a:tblGrid>
              <a:tr h="774025">
                <a:tc>
                  <a:txBody>
                    <a:bodyPr/>
                    <a:lstStyle/>
                    <a:p>
                      <a:r>
                        <a:rPr lang="en-IN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74025">
                <a:tc>
                  <a:txBody>
                    <a:bodyPr/>
                    <a:lstStyle/>
                    <a:p>
                      <a:r>
                        <a:rPr lang="en-IN"/>
                        <a:t>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Element is present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74025">
                <a:tc>
                  <a:txBody>
                    <a:bodyPr/>
                    <a:lstStyle/>
                    <a:p>
                      <a:r>
                        <a:rPr lang="en-IN"/>
                        <a:t>not 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Element is not present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8900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Identity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Identity operators are used to check whether two variables refer to the same object in memory</a:t>
            </a:r>
            <a:r>
              <a:rPr lang="en-GB" dirty="0" smtClean="0"/>
              <a:t>.</a:t>
            </a:r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544976"/>
              </p:ext>
            </p:extLst>
          </p:nvPr>
        </p:nvGraphicFramePr>
        <p:xfrm>
          <a:off x="1295400" y="3667758"/>
          <a:ext cx="9601200" cy="2024124"/>
        </p:xfrm>
        <a:graphic>
          <a:graphicData uri="http://schemas.openxmlformats.org/drawingml/2006/table">
            <a:tbl>
              <a:tblPr/>
              <a:tblGrid>
                <a:gridCol w="4800600"/>
                <a:gridCol w="4800600"/>
              </a:tblGrid>
              <a:tr h="674708">
                <a:tc>
                  <a:txBody>
                    <a:bodyPr/>
                    <a:lstStyle/>
                    <a:p>
                      <a:r>
                        <a:rPr lang="en-IN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74708">
                <a:tc>
                  <a:txBody>
                    <a:bodyPr/>
                    <a:lstStyle/>
                    <a:p>
                      <a:r>
                        <a:rPr lang="en-IN"/>
                        <a:t>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Both variables refer to the same 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74708">
                <a:tc>
                  <a:txBody>
                    <a:bodyPr/>
                    <a:lstStyle/>
                    <a:p>
                      <a:r>
                        <a:rPr lang="en-IN"/>
                        <a:t>is not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Variables refer to different objects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1889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Operator </a:t>
            </a:r>
            <a:r>
              <a:rPr lang="en-IN" dirty="0" smtClean="0"/>
              <a:t>Precedence</a:t>
            </a:r>
            <a:br>
              <a:rPr lang="en-IN" dirty="0" smtClean="0"/>
            </a:br>
            <a:r>
              <a:rPr lang="en-GB" sz="2700" b="1" dirty="0"/>
              <a:t>Operator precedence</a:t>
            </a:r>
            <a:r>
              <a:rPr lang="en-GB" sz="2700" dirty="0"/>
              <a:t> determines </a:t>
            </a:r>
            <a:r>
              <a:rPr lang="en-GB" sz="2700" b="1" dirty="0"/>
              <a:t>which operator is evaluated first</a:t>
            </a:r>
            <a:r>
              <a:rPr lang="en-GB" sz="2700" dirty="0"/>
              <a:t> in an expression.</a:t>
            </a:r>
            <a:endParaRPr lang="en-IN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Common Operator Precedence (High to Low)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878522"/>
              </p:ext>
            </p:extLst>
          </p:nvPr>
        </p:nvGraphicFramePr>
        <p:xfrm>
          <a:off x="811657" y="3022132"/>
          <a:ext cx="10469367" cy="3286200"/>
        </p:xfrm>
        <a:graphic>
          <a:graphicData uri="http://schemas.openxmlformats.org/drawingml/2006/table">
            <a:tbl>
              <a:tblPr/>
              <a:tblGrid>
                <a:gridCol w="3489789"/>
                <a:gridCol w="3489789"/>
                <a:gridCol w="3489789"/>
              </a:tblGrid>
              <a:tr h="285827">
                <a:tc>
                  <a:txBody>
                    <a:bodyPr/>
                    <a:lstStyle/>
                    <a:p>
                      <a:r>
                        <a:rPr lang="en-IN" sz="1500" dirty="0" smtClean="0"/>
                        <a:t>Precedence</a:t>
                      </a:r>
                      <a:endParaRPr lang="en-IN" sz="1500" dirty="0"/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Operators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Description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5827">
                <a:tc>
                  <a:txBody>
                    <a:bodyPr/>
                    <a:lstStyle/>
                    <a:p>
                      <a:r>
                        <a:rPr lang="en-IN" sz="1500"/>
                        <a:t>1 (Highest)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()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Parentheses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5827">
                <a:tc>
                  <a:txBody>
                    <a:bodyPr/>
                    <a:lstStyle/>
                    <a:p>
                      <a:r>
                        <a:rPr lang="en-IN" sz="1500"/>
                        <a:t>2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**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Exponentiation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5827">
                <a:tc>
                  <a:txBody>
                    <a:bodyPr/>
                    <a:lstStyle/>
                    <a:p>
                      <a:r>
                        <a:rPr lang="en-IN" sz="1500"/>
                        <a:t>3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+x, -x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Unary plus, unary minus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9525">
                <a:tc>
                  <a:txBody>
                    <a:bodyPr/>
                    <a:lstStyle/>
                    <a:p>
                      <a:r>
                        <a:rPr lang="en-IN" sz="1500"/>
                        <a:t>4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*, /, //, %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Multiplication, Division, Floor Division, Modulus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5827">
                <a:tc>
                  <a:txBody>
                    <a:bodyPr/>
                    <a:lstStyle/>
                    <a:p>
                      <a:r>
                        <a:rPr lang="en-IN" sz="1500"/>
                        <a:t>5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+, -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Addition, Subtraction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5827">
                <a:tc>
                  <a:txBody>
                    <a:bodyPr/>
                    <a:lstStyle/>
                    <a:p>
                      <a:r>
                        <a:rPr lang="en-IN" sz="1500"/>
                        <a:t>6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==, !=, &gt;, &lt;, &gt;=, &lt;=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Comparison Operators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5827">
                <a:tc>
                  <a:txBody>
                    <a:bodyPr/>
                    <a:lstStyle/>
                    <a:p>
                      <a:r>
                        <a:rPr lang="en-IN" sz="1500"/>
                        <a:t>7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not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Logical NOT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5827">
                <a:tc>
                  <a:txBody>
                    <a:bodyPr/>
                    <a:lstStyle/>
                    <a:p>
                      <a:r>
                        <a:rPr lang="en-IN" sz="1500"/>
                        <a:t>8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and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Logical AND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5827">
                <a:tc>
                  <a:txBody>
                    <a:bodyPr/>
                    <a:lstStyle/>
                    <a:p>
                      <a:r>
                        <a:rPr lang="en-IN" sz="1500"/>
                        <a:t>9 (Lowest)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or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Logical OR</a:t>
                      </a:r>
                    </a:p>
                  </a:txBody>
                  <a:tcPr marL="77160" marR="77160" marT="38580" marB="3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9561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Operator Associativity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When two operators have the </a:t>
            </a:r>
            <a:r>
              <a:rPr lang="en-GB" b="1" dirty="0"/>
              <a:t>same precedence</a:t>
            </a:r>
            <a:r>
              <a:rPr lang="en-GB" dirty="0"/>
              <a:t>, </a:t>
            </a:r>
            <a:r>
              <a:rPr lang="en-GB" b="1" dirty="0"/>
              <a:t>associativity</a:t>
            </a:r>
            <a:r>
              <a:rPr lang="en-GB" dirty="0"/>
              <a:t> determines the order of evaluation.</a:t>
            </a:r>
          </a:p>
          <a:p>
            <a:r>
              <a:rPr lang="en-GB" dirty="0"/>
              <a:t>There are two types:</a:t>
            </a:r>
          </a:p>
          <a:p>
            <a:r>
              <a:rPr lang="en-GB" b="1" dirty="0"/>
              <a:t>Left to Right</a:t>
            </a:r>
            <a:r>
              <a:rPr lang="en-GB" dirty="0"/>
              <a:t> </a:t>
            </a:r>
          </a:p>
          <a:p>
            <a:r>
              <a:rPr lang="en-GB" b="1" dirty="0"/>
              <a:t>Right to Left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8556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816630"/>
              </p:ext>
            </p:extLst>
          </p:nvPr>
        </p:nvGraphicFramePr>
        <p:xfrm>
          <a:off x="1006867" y="780839"/>
          <a:ext cx="10551561" cy="5359304"/>
        </p:xfrm>
        <a:graphic>
          <a:graphicData uri="http://schemas.openxmlformats.org/drawingml/2006/table">
            <a:tbl>
              <a:tblPr/>
              <a:tblGrid>
                <a:gridCol w="3517187"/>
                <a:gridCol w="3517187"/>
                <a:gridCol w="3517187"/>
              </a:tblGrid>
              <a:tr h="345390">
                <a:tc>
                  <a:txBody>
                    <a:bodyPr/>
                    <a:lstStyle/>
                    <a:p>
                      <a:r>
                        <a:rPr lang="en-IN" sz="2000" dirty="0"/>
                        <a:t>Precedence</a:t>
                      </a:r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Operators</a:t>
                      </a:r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Associativity</a:t>
                      </a:r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5390">
                <a:tc>
                  <a:txBody>
                    <a:bodyPr/>
                    <a:lstStyle/>
                    <a:p>
                      <a:r>
                        <a:rPr lang="en-IN" sz="2000" dirty="0"/>
                        <a:t>Highest</a:t>
                      </a:r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()</a:t>
                      </a:r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Left to Right</a:t>
                      </a:r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5390"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**</a:t>
                      </a:r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Right to Left</a:t>
                      </a:r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5390"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+x, -x, ~x (Unary)</a:t>
                      </a:r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Right to Left</a:t>
                      </a:r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5390"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*, /, //, %</a:t>
                      </a:r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Left to Right</a:t>
                      </a:r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5390"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+, -</a:t>
                      </a:r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Left to Right</a:t>
                      </a:r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5390"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&lt;&lt;, &gt;&gt;</a:t>
                      </a:r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Left to Right</a:t>
                      </a:r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5390"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&amp;</a:t>
                      </a:r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Left to Right</a:t>
                      </a:r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5390"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^</a:t>
                      </a:r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Left to Right</a:t>
                      </a:r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5390"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`</a:t>
                      </a:r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`</a:t>
                      </a:r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4432"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==, !=, &gt;, &lt;, &gt;=, &lt;=, is, is not, in, not in</a:t>
                      </a:r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Left to Right</a:t>
                      </a:r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5390"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not</a:t>
                      </a:r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Right to Left</a:t>
                      </a:r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5390"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and</a:t>
                      </a:r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Left to Right</a:t>
                      </a:r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5390">
                <a:tc>
                  <a:txBody>
                    <a:bodyPr/>
                    <a:lstStyle/>
                    <a:p>
                      <a:r>
                        <a:rPr lang="en-IN" sz="2000"/>
                        <a:t>Lowest</a:t>
                      </a:r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or</a:t>
                      </a:r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Left to Right</a:t>
                      </a:r>
                    </a:p>
                  </a:txBody>
                  <a:tcPr marL="56235" marR="56235" marT="28118" marB="28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62771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Practice Problems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Problem 1: Permission Management (Bitwise AND</a:t>
            </a:r>
            <a:r>
              <a:rPr lang="en-GB" b="1" dirty="0" smtClean="0"/>
              <a:t>)</a:t>
            </a:r>
          </a:p>
          <a:p>
            <a:pPr marL="0" indent="0">
              <a:buNone/>
            </a:pPr>
            <a:r>
              <a:rPr lang="en-GB" b="1" dirty="0" smtClean="0"/>
              <a:t> Scenario</a:t>
            </a:r>
            <a:endParaRPr lang="en-GB" b="1" dirty="0"/>
          </a:p>
          <a:p>
            <a:r>
              <a:rPr lang="en-GB" dirty="0"/>
              <a:t>A college ERP system stores user permissions using bits</a:t>
            </a:r>
            <a:r>
              <a:rPr lang="en-GB" dirty="0" smtClean="0"/>
              <a:t>.</a:t>
            </a:r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206050"/>
              </p:ext>
            </p:extLst>
          </p:nvPr>
        </p:nvGraphicFramePr>
        <p:xfrm>
          <a:off x="1376736" y="4058290"/>
          <a:ext cx="9519863" cy="1972640"/>
        </p:xfrm>
        <a:graphic>
          <a:graphicData uri="http://schemas.openxmlformats.org/drawingml/2006/table">
            <a:tbl>
              <a:tblPr/>
              <a:tblGrid>
                <a:gridCol w="4736162"/>
                <a:gridCol w="4783701"/>
              </a:tblGrid>
              <a:tr h="394528">
                <a:tc>
                  <a:txBody>
                    <a:bodyPr/>
                    <a:lstStyle/>
                    <a:p>
                      <a:r>
                        <a:rPr lang="en-IN"/>
                        <a:t>Permission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4528">
                <a:tc>
                  <a:txBody>
                    <a:bodyPr/>
                    <a:lstStyle/>
                    <a:p>
                      <a:r>
                        <a:rPr lang="en-IN"/>
                        <a:t>Read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4528">
                <a:tc>
                  <a:txBody>
                    <a:bodyPr/>
                    <a:lstStyle/>
                    <a:p>
                      <a:r>
                        <a:rPr lang="en-IN"/>
                        <a:t>Write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4528">
                <a:tc>
                  <a:txBody>
                    <a:bodyPr/>
                    <a:lstStyle/>
                    <a:p>
                      <a:r>
                        <a:rPr lang="en-IN"/>
                        <a:t>Execute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4528">
                <a:tc>
                  <a:txBody>
                    <a:bodyPr/>
                    <a:lstStyle/>
                    <a:p>
                      <a:r>
                        <a:rPr lang="en-IN"/>
                        <a:t>Delete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61294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Problem 3: Encrypting Student ID (Bitwise XOR)</a:t>
            </a:r>
          </a:p>
          <a:p>
            <a:r>
              <a:rPr lang="en-GB" b="1" dirty="0"/>
              <a:t>Scenario</a:t>
            </a:r>
          </a:p>
          <a:p>
            <a:r>
              <a:rPr lang="en-GB" dirty="0"/>
              <a:t>A university wants to hide student IDs before sending them over a network.</a:t>
            </a:r>
          </a:p>
          <a:p>
            <a:r>
              <a:rPr lang="en-GB" dirty="0"/>
              <a:t>Use XOR with key </a:t>
            </a:r>
            <a:r>
              <a:rPr lang="en-GB" b="1" dirty="0"/>
              <a:t>25</a:t>
            </a:r>
            <a:r>
              <a:rPr lang="en-GB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932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Problem 5: Multiply Salary by 4 (Left Shift)</a:t>
            </a:r>
          </a:p>
          <a:p>
            <a:r>
              <a:rPr lang="en-GB" b="1" dirty="0"/>
              <a:t>Scenario</a:t>
            </a:r>
          </a:p>
          <a:p>
            <a:r>
              <a:rPr lang="en-GB" dirty="0"/>
              <a:t>A company gives a bonus equal to </a:t>
            </a:r>
            <a:r>
              <a:rPr lang="en-GB" b="1" dirty="0"/>
              <a:t>4 times</a:t>
            </a:r>
            <a:r>
              <a:rPr lang="en-GB" dirty="0"/>
              <a:t> the current salary.</a:t>
            </a:r>
          </a:p>
        </p:txBody>
      </p:sp>
    </p:spTree>
    <p:extLst>
      <p:ext uri="{BB962C8B-B14F-4D97-AF65-F5344CB8AC3E}">
        <p14:creationId xmlns:p14="http://schemas.microsoft.com/office/powerpoint/2010/main" val="22438031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Problem 8: Online Shopping</a:t>
            </a:r>
          </a:p>
          <a:p>
            <a:r>
              <a:rPr lang="en-GB" b="1" dirty="0"/>
              <a:t>Scenario</a:t>
            </a:r>
          </a:p>
          <a:p>
            <a:r>
              <a:rPr lang="en-GB" dirty="0"/>
              <a:t>Check whether a product is available.</a:t>
            </a:r>
          </a:p>
        </p:txBody>
      </p:sp>
    </p:spTree>
    <p:extLst>
      <p:ext uri="{BB962C8B-B14F-4D97-AF65-F5344CB8AC3E}">
        <p14:creationId xmlns:p14="http://schemas.microsoft.com/office/powerpoint/2010/main" val="2434853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Problem 13: Shopping Bill</a:t>
            </a:r>
          </a:p>
          <a:p>
            <a:r>
              <a:rPr lang="en-GB" b="1" dirty="0"/>
              <a:t>Scenario</a:t>
            </a:r>
          </a:p>
          <a:p>
            <a:r>
              <a:rPr lang="en-GB" dirty="0"/>
              <a:t>A customer buys 5 items costing ₹100 each.</a:t>
            </a:r>
          </a:p>
          <a:p>
            <a:r>
              <a:rPr lang="en-GB" dirty="0"/>
              <a:t>A discount of ₹50 is applied.</a:t>
            </a:r>
          </a:p>
          <a:p>
            <a:r>
              <a:rPr lang="en-GB"/>
              <a:t>Find the total bill.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0619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user has permission value 13 (1101₂</a:t>
            </a:r>
            <a:r>
              <a:rPr lang="en-GB" dirty="0" smtClean="0"/>
              <a:t>).</a:t>
            </a:r>
          </a:p>
          <a:p>
            <a:r>
              <a:rPr lang="en-GB" dirty="0" smtClean="0"/>
              <a:t>Check </a:t>
            </a:r>
            <a:r>
              <a:rPr lang="en-GB" dirty="0"/>
              <a:t>whether the user has Write permission.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08117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225</TotalTime>
  <Words>717</Words>
  <Application>Microsoft Office PowerPoint</Application>
  <PresentationFormat>Widescreen</PresentationFormat>
  <Paragraphs>265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Garamond</vt:lpstr>
      <vt:lpstr>Organic</vt:lpstr>
      <vt:lpstr>Operators</vt:lpstr>
      <vt:lpstr>PowerPoint Presentation</vt:lpstr>
      <vt:lpstr>Classification of Operators</vt:lpstr>
      <vt:lpstr>Arithmetic Operator</vt:lpstr>
      <vt:lpstr>Comparison (Relational) Operators </vt:lpstr>
      <vt:lpstr>Assignment Operators</vt:lpstr>
      <vt:lpstr>Logical Operators </vt:lpstr>
      <vt:lpstr>1. Logical AND (and)</vt:lpstr>
      <vt:lpstr>2. Logical OR (or)</vt:lpstr>
      <vt:lpstr>3. Logical NOT (not)</vt:lpstr>
      <vt:lpstr>Practice problems</vt:lpstr>
      <vt:lpstr>Bitwise Operators</vt:lpstr>
      <vt:lpstr>Membership Operators</vt:lpstr>
      <vt:lpstr>Identity Operators</vt:lpstr>
      <vt:lpstr>Operator Precedence Operator precedence determines which operator is evaluated first in an expression.</vt:lpstr>
      <vt:lpstr>Operator Associativity</vt:lpstr>
      <vt:lpstr>PowerPoint Presentation</vt:lpstr>
      <vt:lpstr>Practice Problems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Operators</dc:title>
  <dc:creator>Microsoft account</dc:creator>
  <cp:lastModifiedBy>Microsoft account</cp:lastModifiedBy>
  <cp:revision>14</cp:revision>
  <dcterms:created xsi:type="dcterms:W3CDTF">2026-07-18T06:53:03Z</dcterms:created>
  <dcterms:modified xsi:type="dcterms:W3CDTF">2026-07-21T03:26:20Z</dcterms:modified>
</cp:coreProperties>
</file>